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CFC99E4-8ABB-45EF-99F0-B2AD35EAA299}" type="datetimeFigureOut">
              <a:rPr lang="pt-BR"/>
              <a:t>08/07/2025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9B28DF2-87FF-4CB1-9EAF-5F1D54890CBB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B28DF2-87FF-4CB1-9EAF-5F1D54890CBB}" type="slidenum">
              <a:rPr lang="pt-BR"/>
              <a:t>1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39DA61-5737-82B3-4781-5E7250E14F7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198A1A-7F27-C13A-0183-FF660157AFA7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43CB42-15DB-0349-6C34-F4CEA09FA235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DF53B6-24F3-70DB-4CC1-72CD150CF2F2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D9130C-4931-3ED5-1F69-2034DF00E509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3ED657-5B37-B71E-3BFE-1505EFE233AE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DCBAA7-28BB-DB9D-D074-C5D7AEB8A92B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63A20F-D7D1-A04A-DCB8-09EF5C591A0A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E3D11-4061-F667-1E7B-D7EA1287D31A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08109-AFF5-4007-29AC-CC826C965A2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48DCF-A58F-D732-5264-8949B7EBB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AF0F-C27D-4108-8967-D728197B57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8547A-3D21-916C-23AF-E1FFBCE6A9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E3D11-4061-F667-1E7B-D7EA1287D31A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5642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Slide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 bwMode="auto">
          <a:xfrm>
            <a:off x="0" y="-8467"/>
            <a:ext cx="12192000" cy="6866466"/>
            <a:chOff x="0" y="-8467"/>
            <a:chExt cx="12192000" cy="6866466"/>
          </a:xfrm>
        </p:grpSpPr>
        <p:sp>
          <p:nvSpPr>
            <p:cNvPr id="15" name="Freeform 14"/>
            <p:cNvSpPr/>
            <p:nvPr/>
          </p:nvSpPr>
          <p:spPr bwMode="auto">
            <a:xfrm>
              <a:off x="0" y="-7862"/>
              <a:ext cx="863599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 bwMode="auto"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auto"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 bwMode="auto">
            <a:xfrm>
              <a:off x="9181476" y="-8467"/>
              <a:ext cx="3007349" cy="6866466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 bwMode="auto">
            <a:xfrm>
              <a:off x="9603442" y="-8467"/>
              <a:ext cx="2588558" cy="6866466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 bwMode="auto">
            <a:xfrm>
              <a:off x="8932333" y="3048000"/>
              <a:ext cx="3259666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 bwMode="auto">
            <a:xfrm>
              <a:off x="9334500" y="-8467"/>
              <a:ext cx="2854326" cy="6866466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 bwMode="auto">
            <a:xfrm>
              <a:off x="10898730" y="-8467"/>
              <a:ext cx="1290094" cy="6866466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 bwMode="auto">
            <a:xfrm>
              <a:off x="10938999" y="-8467"/>
              <a:ext cx="1249825" cy="6866466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 bwMode="auto">
            <a:xfrm>
              <a:off x="10371666" y="3589867"/>
              <a:ext cx="1817158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8D08A0F-B82E-4891-9003-F53D019999E9}" type="datetime1">
              <a:rPr lang="pt-BR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ítulo 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A01EF27-A8E3-48CD-9188-EB0D6C40B6CD}" type="datetime1">
              <a:rPr lang="pt-BR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Cabeçalho da Se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ACF8AB-4E84-485B-B4EB-28002CF5DDB5}" type="datetime1">
              <a:rPr lang="pt-BR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uas Partes d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77334" y="2160589"/>
            <a:ext cx="4184035" cy="3880772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089970" y="2160589"/>
            <a:ext cx="4184034" cy="3880773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8F3879A-8125-480C-BDAC-1C9A24D86DAF}" type="datetime1">
              <a:rPr lang="pt-BR"/>
              <a:t>08/07/2025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D3499CB-C7FA-49EE-8A1B-C141F12F799D}" type="datetime1">
              <a:rPr lang="pt-BR"/>
              <a:t>08/07/2025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Soment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4" y="609600"/>
            <a:ext cx="8596668" cy="1320800"/>
          </a:xfrm>
        </p:spPr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6480E8-F5C4-41DE-B582-991672BF7D7F}" type="datetime1">
              <a:rPr lang="pt-BR"/>
              <a:t>08/07/2025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EF41407-FA9D-4E2B-BDA1-4A8E65AAB149}" type="datetime1">
              <a:rPr lang="pt-BR"/>
              <a:t>08/07/2025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829A243-62F0-4836-96B1-8518785D8A55}" type="datetime1">
              <a:rPr lang="pt-BR"/>
              <a:t>08/07/2025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F13B6B6-5E63-4B41-9934-4D99A8E281F5}" type="datetime1">
              <a:rPr lang="pt-BR"/>
              <a:t>08/07/2025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ítulo e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BDC0E9A-1AAE-4FAD-AC32-1A5B7282EA95}" type="datetime1">
              <a:rPr lang="pt-BR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itaçã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63DD0ED-6F01-4EEC-9E86-C296D01CDA62}" type="datetime1">
              <a:rPr lang="pt-BR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 bwMode="auto">
          <a:xfrm>
            <a:off x="541870" y="790378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8893011" y="288655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artão de Nom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FABCD7-0806-4C66-A4D1-B9192EF50AB4}" type="datetime1">
              <a:rPr lang="pt-BR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itar o Cartão de Nom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019066-6BD1-4450-9969-0C2BEA85775C}" type="datetime1">
              <a:rPr lang="pt-BR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 bwMode="auto">
          <a:xfrm>
            <a:off x="541870" y="790378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8893011" y="288655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Verdadeiro ou Fals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FC850A-F596-4E88-9DE7-F4038BEA2825}" type="datetime1">
              <a:rPr lang="pt-BR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830BB3D-86AD-4D74-BC44-9A011CC63EFF}" type="datetime1">
              <a:rPr lang="pt-BR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ítulo e texto vertica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967673" y="609599"/>
            <a:ext cx="1304743" cy="5251451"/>
          </a:xfrm>
        </p:spPr>
        <p:txBody>
          <a:bodyPr vert="eaVert" anchor="ctr"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7FCC392-F70E-4595-8E4F-410A29B595B2}" type="datetime1">
              <a:rPr lang="pt-BR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 bwMode="auto">
          <a:xfrm>
            <a:off x="0" y="-8467"/>
            <a:ext cx="12192000" cy="6866466"/>
            <a:chOff x="0" y="-8467"/>
            <a:chExt cx="12192000" cy="6866466"/>
          </a:xfrm>
        </p:grpSpPr>
        <p:cxnSp>
          <p:nvCxnSpPr>
            <p:cNvPr id="20" name="Straight Connector 19"/>
            <p:cNvCxnSpPr/>
            <p:nvPr/>
          </p:nvCxnSpPr>
          <p:spPr bwMode="auto"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 bwMode="auto">
            <a:xfrm>
              <a:off x="9181476" y="-8467"/>
              <a:ext cx="3007349" cy="6866466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 bwMode="auto">
            <a:xfrm>
              <a:off x="9603442" y="-8467"/>
              <a:ext cx="2588558" cy="6866466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 bwMode="auto">
            <a:xfrm>
              <a:off x="8932333" y="3048000"/>
              <a:ext cx="3259666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 bwMode="auto">
            <a:xfrm>
              <a:off x="9334500" y="-8467"/>
              <a:ext cx="2854326" cy="6866466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 bwMode="auto">
            <a:xfrm>
              <a:off x="10898730" y="-8467"/>
              <a:ext cx="1290094" cy="6866466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 bwMode="auto">
            <a:xfrm>
              <a:off x="10938999" y="-8467"/>
              <a:ext cx="1249825" cy="6866466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 bwMode="auto">
            <a:xfrm>
              <a:off x="10371666" y="3589867"/>
              <a:ext cx="1817158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 bwMode="auto"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5E75987-F30D-4F86-A5BE-89A1B9D40948}" type="datetime1">
              <a:rPr lang="pt-BR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77334" y="6041362"/>
            <a:ext cx="62976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A47E32B6-2FC8-40AC-8828-8970D87D261F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dt="0"/>
  <p:txStyles>
    <p:titleStyle>
      <a:lvl1pPr algn="l" defTabSz="457200">
        <a:spcBef>
          <a:spcPts val="0"/>
        </a:spcBef>
        <a:buNone/>
        <a:defRPr sz="3600">
          <a:solidFill>
            <a:schemeClr val="accent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fts-tic.com.br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  <a:endParaRPr/>
          </a:p>
        </p:txBody>
      </p:sp>
      <p:sp>
        <p:nvSpPr>
          <p:cNvPr id="6" name="Retângulo 5"/>
          <p:cNvSpPr/>
          <p:nvPr/>
        </p:nvSpPr>
        <p:spPr bwMode="auto">
          <a:xfrm>
            <a:off x="185654" y="297226"/>
            <a:ext cx="10525889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endParaRPr lang="pt-BR" sz="3600" b="0" cap="none" spc="0">
              <a:ln w="0"/>
              <a:solidFill>
                <a:schemeClr val="accent1"/>
              </a:solidFill>
            </a:endParaRPr>
          </a:p>
          <a:p>
            <a:pPr algn="ctr">
              <a:defRPr/>
            </a:pPr>
            <a:r>
              <a:rPr lang="pt-BR" sz="3600" b="0" cap="none" spc="0">
                <a:ln w="0"/>
                <a:solidFill>
                  <a:schemeClr val="accent1"/>
                </a:solidFill>
              </a:rPr>
              <a:t>PROPOSTA COMERCIAL</a:t>
            </a:r>
            <a:endParaRPr/>
          </a:p>
          <a:p>
            <a:pPr algn="ctr">
              <a:defRPr/>
            </a:pPr>
            <a:endParaRPr lang="pt-BR" sz="3600" b="0" cap="none" spc="0">
              <a:ln w="0"/>
              <a:solidFill>
                <a:schemeClr val="accent1"/>
              </a:solidFill>
            </a:endParaRPr>
          </a:p>
          <a:p>
            <a:pPr algn="ctr">
              <a:defRPr/>
            </a:pPr>
            <a:r>
              <a:rPr lang="pt-BR" sz="3600" b="0" cap="none" spc="0">
                <a:ln w="0"/>
                <a:solidFill>
                  <a:schemeClr val="accent1"/>
                </a:solidFill>
              </a:rPr>
              <a:t>Cliente: Fundação de Desenvolvimento Institucional – FICTÍCIA</a:t>
            </a:r>
            <a:endParaRPr/>
          </a:p>
          <a:p>
            <a:pPr algn="ctr">
              <a:defRPr/>
            </a:pPr>
            <a:endParaRPr lang="pt-BR" sz="3600" b="0" cap="none" spc="0">
              <a:ln w="0"/>
              <a:solidFill>
                <a:schemeClr val="accent1"/>
              </a:solidFill>
            </a:endParaRPr>
          </a:p>
          <a:p>
            <a:pPr algn="ctr">
              <a:defRPr/>
            </a:pPr>
            <a:r>
              <a:rPr lang="pt-BR" sz="3600" b="0" cap="none" spc="0">
                <a:ln w="0"/>
                <a:solidFill>
                  <a:schemeClr val="accent1"/>
                </a:solidFill>
              </a:rPr>
              <a:t>Empresa: GFTS Soluções em TIC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6" name="Retângulo 5"/>
          <p:cNvSpPr/>
          <p:nvPr/>
        </p:nvSpPr>
        <p:spPr bwMode="auto">
          <a:xfrm>
            <a:off x="817855" y="655210"/>
            <a:ext cx="8574339" cy="480131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endParaRPr lang="pt-BR" b="0" cap="none" spc="0">
              <a:ln w="0"/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pt-BR" b="0" cap="none" spc="0">
                <a:ln w="0"/>
                <a:solidFill>
                  <a:schemeClr val="tx1"/>
                </a:solidFill>
              </a:rPr>
              <a:t>Cliente: Fundação de Desenvolvimento Institucional – FICTÍCIA</a:t>
            </a:r>
            <a:endParaRPr/>
          </a:p>
          <a:p>
            <a:pPr algn="ctr">
              <a:defRPr/>
            </a:pPr>
            <a:endParaRPr lang="pt-BR" b="0" cap="none" spc="0">
              <a:ln w="0"/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pt-BR" b="0" cap="none" spc="0">
                <a:ln w="0"/>
                <a:solidFill>
                  <a:schemeClr val="tx1"/>
                </a:solidFill>
              </a:rPr>
              <a:t>Empresa: GFTS Soluções em TIC</a:t>
            </a:r>
            <a:endParaRPr/>
          </a:p>
          <a:p>
            <a:pPr algn="ctr">
              <a:defRPr/>
            </a:pPr>
            <a:endParaRPr lang="pt-BR">
              <a:ln w="0"/>
            </a:endParaRPr>
          </a:p>
          <a:p>
            <a:pPr algn="ctr">
              <a:defRPr/>
            </a:pPr>
            <a:endParaRPr lang="pt-BR" b="0" cap="none" spc="0">
              <a:ln w="0"/>
              <a:solidFill>
                <a:schemeClr val="tx1"/>
              </a:solidFill>
            </a:endParaRPr>
          </a:p>
          <a:p>
            <a:pPr algn="ctr">
              <a:defRPr/>
            </a:pPr>
            <a:endParaRPr lang="pt-BR" b="0" cap="none" spc="0">
              <a:ln w="0"/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pt-BR" b="0" cap="none" spc="0">
                <a:ln w="0"/>
                <a:solidFill>
                  <a:schemeClr val="tx1"/>
                </a:solidFill>
              </a:rPr>
              <a:t>Objeto do Projeto: Implantação de Infraestrutura de TI para modernização da </a:t>
            </a:r>
            <a:endParaRPr/>
          </a:p>
          <a:p>
            <a:pPr algn="ctr">
              <a:defRPr/>
            </a:pPr>
            <a:r>
              <a:rPr lang="pt-BR" b="0" cap="none" spc="0">
                <a:ln w="0"/>
                <a:solidFill>
                  <a:schemeClr val="tx1"/>
                </a:solidFill>
              </a:rPr>
              <a:t>rede corporativa e renovação do parque tecnológico. </a:t>
            </a:r>
            <a:endParaRPr/>
          </a:p>
          <a:p>
            <a:pPr algn="ctr">
              <a:defRPr/>
            </a:pPr>
            <a:endParaRPr lang="pt-BR" b="0" cap="none" spc="0">
              <a:ln w="0"/>
              <a:solidFill>
                <a:schemeClr val="tx1"/>
              </a:solidFill>
            </a:endParaRPr>
          </a:p>
          <a:p>
            <a:pPr algn="ctr">
              <a:defRPr/>
            </a:pPr>
            <a:endParaRPr lang="pt-BR">
              <a:ln w="0"/>
            </a:endParaRPr>
          </a:p>
          <a:p>
            <a:pPr algn="ctr">
              <a:defRPr/>
            </a:pPr>
            <a:endParaRPr lang="pt-BR" b="0" cap="none" spc="0">
              <a:ln w="0"/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pt-BR" b="0" cap="none" spc="0">
                <a:ln w="0"/>
                <a:solidFill>
                  <a:schemeClr val="tx1"/>
                </a:solidFill>
              </a:rPr>
              <a:t>Apresentado por:</a:t>
            </a:r>
            <a:endParaRPr/>
          </a:p>
          <a:p>
            <a:pPr algn="ctr">
              <a:defRPr/>
            </a:pPr>
            <a:r>
              <a:rPr lang="pt-BR" b="0" cap="none" spc="0">
                <a:ln w="0"/>
                <a:solidFill>
                  <a:schemeClr val="tx1"/>
                </a:solidFill>
              </a:rPr>
              <a:t>Guilherme Sena - Operador de sistemas computacionais em rede</a:t>
            </a:r>
            <a:endParaRPr/>
          </a:p>
          <a:p>
            <a:pPr algn="ctr">
              <a:defRPr/>
            </a:pPr>
            <a:r>
              <a:rPr lang="pt-BR" b="0" cap="none" spc="0">
                <a:ln w="0"/>
                <a:solidFill>
                  <a:schemeClr val="tx1"/>
                </a:solidFill>
              </a:rPr>
              <a:t>Anthony Freitas</a:t>
            </a:r>
            <a:endParaRPr/>
          </a:p>
          <a:p>
            <a:pPr algn="ctr">
              <a:defRPr/>
            </a:pPr>
            <a:endParaRPr lang="pt-BR" b="0" cap="none" spc="0">
              <a:ln w="0"/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pt-BR" b="0" cap="none" spc="0">
                <a:ln w="0"/>
                <a:solidFill>
                  <a:schemeClr val="tx1"/>
                </a:solidFill>
              </a:rPr>
              <a:t>Data: 27.06.2025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2" name="Retângulo 1"/>
          <p:cNvSpPr/>
          <p:nvPr/>
        </p:nvSpPr>
        <p:spPr bwMode="auto">
          <a:xfrm>
            <a:off x="1526178" y="127350"/>
            <a:ext cx="841465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pt-BR" sz="2000"/>
          </a:p>
          <a:p>
            <a:pPr>
              <a:defRPr/>
            </a:pPr>
            <a:r>
              <a:rPr lang="pt-BR" sz="2000"/>
              <a:t>GFTS Soluções em TIC</a:t>
            </a:r>
            <a:endParaRPr/>
          </a:p>
          <a:p>
            <a:pPr>
              <a:defRPr/>
            </a:pPr>
            <a:endParaRPr lang="pt-BR" sz="2000"/>
          </a:p>
          <a:p>
            <a:pPr>
              <a:defRPr/>
            </a:pPr>
            <a:r>
              <a:rPr lang="pt-BR" sz="2000"/>
              <a:t>Somos uma empresa especializada em serviços de Tecnologia da Informação e Comunicação. Oferecemos soluções completas e personalizadas para ambientes corporativos, educacionais e institucionais. </a:t>
            </a:r>
            <a:endParaRPr/>
          </a:p>
          <a:p>
            <a:pPr>
              <a:defRPr/>
            </a:pPr>
            <a:endParaRPr lang="pt-BR" sz="2000"/>
          </a:p>
          <a:p>
            <a:pPr>
              <a:defRPr/>
            </a:pPr>
            <a:r>
              <a:rPr lang="pt-BR" sz="2000"/>
              <a:t>Nosso foco está na </a:t>
            </a:r>
            <a:endParaRPr/>
          </a:p>
          <a:p>
            <a:pPr>
              <a:defRPr/>
            </a:pPr>
            <a:endParaRPr lang="pt-BR" sz="2000"/>
          </a:p>
          <a:p>
            <a:pPr>
              <a:defRPr/>
            </a:pPr>
            <a:r>
              <a:rPr lang="pt-BR" sz="2000"/>
              <a:t>qualidade, confiabilidade e inovação, atuando na instalação, configuração e manutenção de redes estruturadas, estações de trabalho, servidores e ativos de rede. </a:t>
            </a:r>
            <a:endParaRPr/>
          </a:p>
          <a:p>
            <a:pPr>
              <a:defRPr/>
            </a:pPr>
            <a:endParaRPr lang="pt-BR" sz="2000"/>
          </a:p>
          <a:p>
            <a:pPr>
              <a:defRPr/>
            </a:pPr>
            <a:r>
              <a:rPr lang="pt-BR" sz="2000"/>
              <a:t>Nosso Compromisso: Fornecer infraestrutura tecnológica eficiente, segura e escalável, alinhada às melhores práticas do mercado. Contamos com uma equipe técnica qualificada e experiente, pronta para atender às demandas mais exigentes.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2" name="Retângulo 1"/>
          <p:cNvSpPr/>
          <p:nvPr/>
        </p:nvSpPr>
        <p:spPr bwMode="auto">
          <a:xfrm>
            <a:off x="801189" y="1191973"/>
            <a:ext cx="8414656" cy="3170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000"/>
              <a:t>Esta apresentação detalha a nossa proposta para a modernização da infraestrutura de TI da sua instituição. Abordaremos os seguintes pontos:</a:t>
            </a:r>
            <a:endParaRPr/>
          </a:p>
          <a:p>
            <a:pPr>
              <a:defRPr/>
            </a:pPr>
            <a:endParaRPr lang="pt-BR" sz="2000"/>
          </a:p>
          <a:p>
            <a:pPr>
              <a:defRPr/>
            </a:pPr>
            <a:r>
              <a:rPr lang="pt-BR" sz="2000" b="1"/>
              <a:t>Topologia de Rede Proposta</a:t>
            </a:r>
            <a:endParaRPr lang="pt-BR" sz="2000"/>
          </a:p>
          <a:p>
            <a:pPr>
              <a:defRPr/>
            </a:pPr>
            <a:r>
              <a:rPr lang="pt-BR" sz="2000" b="1"/>
              <a:t>Configuração dos Equipamentos</a:t>
            </a:r>
            <a:endParaRPr lang="pt-BR" sz="2000"/>
          </a:p>
          <a:p>
            <a:pPr>
              <a:defRPr/>
            </a:pPr>
            <a:r>
              <a:rPr lang="pt-BR" sz="2000" b="1"/>
              <a:t>Orçamento Detalhado</a:t>
            </a:r>
            <a:endParaRPr lang="pt-BR" sz="2000"/>
          </a:p>
          <a:p>
            <a:pPr>
              <a:defRPr/>
            </a:pPr>
            <a:r>
              <a:rPr lang="pt-BR" sz="2000" b="1"/>
              <a:t>Cronograma de Implantação</a:t>
            </a:r>
            <a:endParaRPr lang="pt-BR" sz="2000"/>
          </a:p>
          <a:p>
            <a:pPr>
              <a:defRPr/>
            </a:pPr>
            <a:r>
              <a:rPr lang="pt-BR" sz="2000" b="1"/>
              <a:t>Equipe Técnica e Mão de Obra</a:t>
            </a:r>
            <a:endParaRPr lang="pt-BR" sz="2000"/>
          </a:p>
          <a:p>
            <a:pPr>
              <a:defRPr/>
            </a:pPr>
            <a:r>
              <a:rPr lang="pt-BR" sz="2000" b="1"/>
              <a:t>Valores e Condições</a:t>
            </a:r>
            <a:endParaRPr lang="pt-BR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16199999">
            <a:off x="2349668" y="-405683"/>
            <a:ext cx="4096322" cy="66112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3" name="Retângulo 2"/>
          <p:cNvSpPr/>
          <p:nvPr/>
        </p:nvSpPr>
        <p:spPr bwMode="auto">
          <a:xfrm>
            <a:off x="1" y="707460"/>
            <a:ext cx="775280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pt-BR" sz="4800">
                <a:ln w="0"/>
                <a:solidFill>
                  <a:schemeClr val="accent1"/>
                </a:solidFill>
              </a:rPr>
              <a:t>Configuração das máquinas</a:t>
            </a:r>
            <a:endParaRPr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23645" y="1741884"/>
            <a:ext cx="4986688" cy="1105819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272730" y="2846473"/>
            <a:ext cx="4986688" cy="899238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119507" y="3763799"/>
            <a:ext cx="4986688" cy="90046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2981655" y="4677990"/>
            <a:ext cx="5058533" cy="11005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3" name="Retângulo 2"/>
          <p:cNvSpPr/>
          <p:nvPr/>
        </p:nvSpPr>
        <p:spPr bwMode="auto">
          <a:xfrm>
            <a:off x="1815738" y="3331333"/>
            <a:ext cx="775280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pt-BR" sz="4800">
                <a:ln w="0"/>
                <a:solidFill>
                  <a:schemeClr val="accent1"/>
                </a:solidFill>
              </a:rPr>
              <a:t>Distribuição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5132" y="734305"/>
            <a:ext cx="7382905" cy="2181529"/>
          </a:xfrm>
          <a:prstGeom prst="rect">
            <a:avLst/>
          </a:prstGeom>
        </p:spPr>
      </p:pic>
      <p:sp>
        <p:nvSpPr>
          <p:cNvPr id="10" name="Retângulo 9"/>
          <p:cNvSpPr/>
          <p:nvPr/>
        </p:nvSpPr>
        <p:spPr bwMode="auto">
          <a:xfrm>
            <a:off x="0" y="-96691"/>
            <a:ext cx="775280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pt-BR" sz="4800">
                <a:ln w="0"/>
                <a:solidFill>
                  <a:schemeClr val="accent1"/>
                </a:solidFill>
              </a:rPr>
              <a:t>Orçamento de maquinas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876403" y="4321080"/>
            <a:ext cx="3982006" cy="19910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10" name="Retângulo 9"/>
          <p:cNvSpPr/>
          <p:nvPr/>
        </p:nvSpPr>
        <p:spPr bwMode="auto">
          <a:xfrm>
            <a:off x="0" y="-96691"/>
            <a:ext cx="775280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pt-BR" sz="4800">
                <a:ln w="0"/>
                <a:solidFill>
                  <a:schemeClr val="accent1"/>
                </a:solidFill>
              </a:rPr>
              <a:t>Orçamento de Redes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30436" y="734305"/>
            <a:ext cx="8097380" cy="5153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>
            <a:off x="727596" y="6041362"/>
            <a:ext cx="6297611" cy="365125"/>
          </a:xfrm>
        </p:spPr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10" name="Retângulo 9"/>
          <p:cNvSpPr/>
          <p:nvPr/>
        </p:nvSpPr>
        <p:spPr bwMode="auto">
          <a:xfrm>
            <a:off x="0" y="-96691"/>
            <a:ext cx="775280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pt-BR" sz="4800">
                <a:ln w="0"/>
                <a:solidFill>
                  <a:schemeClr val="accent1"/>
                </a:solidFill>
              </a:rPr>
              <a:t>Cronograma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4618" y="734305"/>
            <a:ext cx="7563906" cy="1771897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 bwMode="auto">
          <a:xfrm>
            <a:off x="4136571" y="3337200"/>
            <a:ext cx="7753525" cy="57947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pt-BR" sz="3200">
                <a:ln w="0"/>
                <a:solidFill>
                  <a:schemeClr val="accent1"/>
                </a:solidFill>
              </a:rPr>
              <a:t>Mão de obra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624889" y="4030194"/>
            <a:ext cx="5649113" cy="1190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>
            <a:off x="727596" y="6041362"/>
            <a:ext cx="6297611" cy="365125"/>
          </a:xfrm>
        </p:spPr>
        <p:txBody>
          <a:bodyPr/>
          <a:lstStyle/>
          <a:p>
            <a:pPr>
              <a:defRPr/>
            </a:pPr>
            <a:r>
              <a:rPr lang="pt-BR"/>
              <a:t>GFTS Soluções em TIC</a:t>
            </a:r>
          </a:p>
        </p:txBody>
      </p:sp>
      <p:sp>
        <p:nvSpPr>
          <p:cNvPr id="10" name="Retângulo 9"/>
          <p:cNvSpPr/>
          <p:nvPr/>
        </p:nvSpPr>
        <p:spPr bwMode="auto">
          <a:xfrm>
            <a:off x="837857" y="615235"/>
            <a:ext cx="775280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pt-BR" sz="4800">
                <a:ln w="0"/>
                <a:solidFill>
                  <a:schemeClr val="accent1"/>
                </a:solidFill>
              </a:rPr>
              <a:t>Total da Proposta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78820" y="2173865"/>
            <a:ext cx="3620005" cy="2105319"/>
          </a:xfrm>
          <a:prstGeom prst="rect">
            <a:avLst/>
          </a:prstGeom>
        </p:spPr>
      </p:pic>
      <p:sp>
        <p:nvSpPr>
          <p:cNvPr id="1255017149" name="CaixaDeTexto 1255017148"/>
          <p:cNvSpPr txBox="1"/>
          <p:nvPr/>
        </p:nvSpPr>
        <p:spPr bwMode="auto">
          <a:xfrm>
            <a:off x="4389532" y="5252102"/>
            <a:ext cx="187788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colocar contatos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22D4C2C-C62F-8BDF-955B-836CA1808D0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023E94-0361-FD19-4FE3-C2648C7D2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7E32B6-2FC8-40AC-8828-8970D87D261F}" type="slidenum">
              <a:rPr lang="pt-BR"/>
              <a:t>11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E55494-7B9E-109F-55B9-EB8BB0C7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727596" y="6041362"/>
            <a:ext cx="6297611" cy="365125"/>
          </a:xfrm>
        </p:spPr>
        <p:txBody>
          <a:bodyPr/>
          <a:lstStyle/>
          <a:p>
            <a:pPr>
              <a:defRPr/>
            </a:pPr>
            <a:r>
              <a:rPr lang="pt-BR" dirty="0"/>
              <a:t>GFTS Soluções em TIC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92F919C-B7DA-ECBF-89AC-87C72AC64F5A}"/>
              </a:ext>
            </a:extLst>
          </p:cNvPr>
          <p:cNvSpPr/>
          <p:nvPr/>
        </p:nvSpPr>
        <p:spPr>
          <a:xfrm>
            <a:off x="427211" y="1374843"/>
            <a:ext cx="7392491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pt-BR" sz="2000" dirty="0"/>
              <a:t>A GFTS Soluções em TIC agradece pela oportunidade de apresentar esta proposta comercial. </a:t>
            </a:r>
            <a:br>
              <a:rPr lang="pt-BR" sz="2000" dirty="0"/>
            </a:br>
            <a:r>
              <a:rPr lang="pt-BR" sz="2000" dirty="0"/>
              <a:t>Reforçamos nosso compromisso com a excelência, a inovação e a entrega de soluções tecnológicas que agreguem valor real ao seu ambiente institucional.</a:t>
            </a:r>
            <a:br>
              <a:rPr lang="pt-BR" sz="2000" dirty="0"/>
            </a:br>
            <a:endParaRPr lang="pt-BR" sz="2000" dirty="0"/>
          </a:p>
          <a:p>
            <a:r>
              <a:rPr lang="pt-BR" sz="2000" dirty="0"/>
              <a:t>Estamos à disposição para esclarecimentos, ajustes ou reuniões complementares, buscando sempre a melhor forma de atender às necessidades do projeto proposto.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CD78DD0-2D88-227A-FB95-B7BDD789FC82}"/>
              </a:ext>
            </a:extLst>
          </p:cNvPr>
          <p:cNvSpPr/>
          <p:nvPr/>
        </p:nvSpPr>
        <p:spPr>
          <a:xfrm>
            <a:off x="427211" y="451513"/>
            <a:ext cx="51379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Agradecimentos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961B0F2-5917-50E7-8629-48E343AF0A21}"/>
              </a:ext>
            </a:extLst>
          </p:cNvPr>
          <p:cNvSpPr/>
          <p:nvPr/>
        </p:nvSpPr>
        <p:spPr bwMode="auto">
          <a:xfrm>
            <a:off x="5565157" y="4262101"/>
            <a:ext cx="224543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Contato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05E9C45-6E1C-6A2B-7E24-749BD3265A37}"/>
              </a:ext>
            </a:extLst>
          </p:cNvPr>
          <p:cNvSpPr txBox="1"/>
          <p:nvPr/>
        </p:nvSpPr>
        <p:spPr>
          <a:xfrm>
            <a:off x="5565157" y="4821940"/>
            <a:ext cx="4494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📞 </a:t>
            </a:r>
            <a:r>
              <a:rPr lang="it-IT" b="1" dirty="0"/>
              <a:t>Telefone:</a:t>
            </a:r>
            <a:r>
              <a:rPr lang="it-IT" dirty="0"/>
              <a:t> (21) 99999-0000</a:t>
            </a:r>
            <a:br>
              <a:rPr lang="it-IT" dirty="0"/>
            </a:br>
            <a:r>
              <a:rPr lang="it-IT" dirty="0"/>
              <a:t>✉️ </a:t>
            </a:r>
            <a:r>
              <a:rPr lang="it-IT" b="1" dirty="0"/>
              <a:t>E-mail:</a:t>
            </a:r>
            <a:r>
              <a:rPr lang="it-IT" dirty="0"/>
              <a:t> contato@gfts-tic.com.br</a:t>
            </a:r>
            <a:br>
              <a:rPr lang="it-IT" dirty="0"/>
            </a:br>
            <a:r>
              <a:rPr lang="it-IT" dirty="0"/>
              <a:t>🌐 </a:t>
            </a:r>
            <a:r>
              <a:rPr lang="it-IT" b="1" dirty="0"/>
              <a:t>Site:</a:t>
            </a:r>
            <a:r>
              <a:rPr lang="it-IT" dirty="0"/>
              <a:t> </a:t>
            </a:r>
            <a:r>
              <a:rPr lang="it-IT" dirty="0">
                <a:hlinkClick r:id="rId3"/>
              </a:rPr>
              <a:t>www.gfts-tic.com.br</a:t>
            </a:r>
            <a:endParaRPr lang="it-IT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333480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do">
      <a:majorFont>
        <a:latin typeface="Trebuchet MS"/>
        <a:ea typeface="Arial"/>
        <a:cs typeface="Arial"/>
      </a:majorFont>
      <a:minorFont>
        <a:latin typeface="Trebuchet MS"/>
        <a:ea typeface="Arial"/>
        <a:cs typeface="Arial"/>
      </a:minorFont>
    </a:fontScheme>
    <a:fmtScheme name="Facetado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Escritório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387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Felipe Tavares Sena</dc:creator>
  <cp:lastModifiedBy>Gsena</cp:lastModifiedBy>
  <cp:revision>5</cp:revision>
  <dcterms:created xsi:type="dcterms:W3CDTF">2025-07-08T20:15:57Z</dcterms:created>
  <dcterms:modified xsi:type="dcterms:W3CDTF">2025-07-09T01:10:43Z</dcterms:modified>
</cp:coreProperties>
</file>