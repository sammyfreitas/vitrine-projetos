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CB88"/>
    <a:srgbClr val="E6A736"/>
    <a:srgbClr val="F6E3AE"/>
    <a:srgbClr val="E7C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680F1-0BDB-4CF3-A0C3-92DE5817D692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21B8E-E6CC-4AFB-9323-AC1338606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726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30BEB-8AEB-5B87-1C0A-BAC5587D7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6A2950-727E-53EF-34A4-573117C24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128665-CA6F-283F-2072-D98E0907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26BE5F-8E63-BCC9-C640-FDF292B9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0F6EA2-4FB0-959F-F1D5-748D2B2C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56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32060-FEAF-C67D-6ED7-4E861AD4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47B636-AA2B-0178-872C-336721B00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E1C2CE-F5DC-999E-562C-F5D33A7E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89A14C-E789-23FD-3A24-09B360AEB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2486AD-810B-DEA7-F7BC-56629024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80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5BA9B-503C-4DC5-25F2-8F819449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BDEF73-EF46-D977-A3DC-0F46A4AF2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B3647A-4ADE-1D96-9D02-71661F1D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036CCC-A7F4-7BC7-934F-15D19FA4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B7594B-4D43-D803-059B-00763D4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37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4B213-D478-FBF4-49F1-6EEA933B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67679B-38AC-3F82-B45B-7030EA49E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563295-16BE-4746-B798-7E6139DA0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B6E2B2-2EE1-812E-3B8A-DABE7E39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930473-CEC7-2DDB-8A82-6378EAED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CABACA-B8DA-B599-E682-6CDC2639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70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0D7FB-9BE4-7EC0-79AE-EA74AD01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013E02-0159-EE1F-A8E1-2232AD1B4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4BFE70-BB32-7FAA-98E7-0FDF0F642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A0C5167-23EB-BEA9-1BAD-60BDA0AB1F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EDB3F2-6BDF-DB41-AB38-CB73C56BB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9B1806-B121-4A36-C1A6-8996C6D3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7922E8F-DAF8-2B22-9B71-17B3454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DA7974E-CF87-F208-0C0E-2154B6B2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836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6113D-CC1D-F260-0BB8-20D8261E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B4C55B-195E-E3CF-DC1A-570A49BCE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96D5A1-5BDB-6E29-2424-CB092375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620E37-0C09-846D-9D77-B1731862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83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F698C5-70A7-D228-3029-C6BD891B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17A6E1-ECFC-2C49-D3C9-113FABC7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E6E73E-BE17-8935-DD36-9B117E9F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300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B0B88-8131-CB5D-9E82-0212AECB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F42A94-BA6D-3643-4FC4-6381FE0C2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9909C5-B89E-295F-29E1-BD9AC8FFE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568002-D79D-F18F-2F3A-3EACC0416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D5CD5E-8A92-6939-09C0-A677D710D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E412F5-B35E-78EA-E3C9-A3438596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60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7607F-4DC8-AEBC-B501-4DA104F5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D8DC16F-564B-6E64-B193-7F4488F9E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A65361F-AC8F-1BDF-B60D-453323768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BD9F2E-E4B3-CBFD-92C8-A89C853C9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A818A5-8280-3C63-045C-E5869551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387BED-1E31-AAB2-3716-AE3684AE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359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5E4FF-977B-B260-73E1-00ED203F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C68C40-7D32-609A-4EF1-E906A6BD2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E53CAC-F520-9335-1031-9A41C570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EDA018-CDD6-7935-EB67-F5A240E4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68BFFB-70EA-CEA3-D0EF-67B60560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99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B737A95-E1FF-3499-4E8A-900E47827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30743B2-56C3-5FB6-1C1A-9BFC02824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62DCF5-E436-2062-B58E-6C64F8FE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66A864-DE6D-2342-AEAD-F1F3A744E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1B3963-E2C2-8D8B-9BEF-05B7A9EA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68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983B21B-2D93-E131-56BD-D087FBC1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01CC5E-AF20-1A27-10B1-2ACA55082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791610-15F0-6056-3899-186E8D2CE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47130-5309-4513-8A25-139FFC287994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BA1C7E-A5A9-2734-A4DA-E433741E8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438412-34DC-940A-D951-44ACB9D26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F387F-F99E-49E2-80F8-ABFD5A938A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734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vgsilh.com/image/24181.html" TargetMode="External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hyperlink" Target="https://pixabay.com/illustrations/search/no%20wifi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netasd.com.br/" TargetMode="External"/><Relationship Id="rId4" Type="http://schemas.openxmlformats.org/officeDocument/2006/relationships/hyperlink" Target="mailto:contato@netasd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D6CA5A69-E933-B243-402D-92E03C8659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B9F92647-5667-C408-B149-3D4F1C8F0F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BBCD345-7D3C-0E75-9C70-E3FB4BB43CA4}"/>
              </a:ext>
            </a:extLst>
          </p:cNvPr>
          <p:cNvSpPr txBox="1"/>
          <p:nvPr/>
        </p:nvSpPr>
        <p:spPr>
          <a:xfrm>
            <a:off x="838200" y="1115219"/>
            <a:ext cx="4528279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ln w="22225">
                  <a:solidFill>
                    <a:srgbClr val="E6A736"/>
                  </a:solidFill>
                  <a:prstDash val="solid"/>
                </a:ln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Proposta de implantação de </a:t>
            </a:r>
            <a:r>
              <a:rPr lang="en-US" sz="5000" b="1" dirty="0">
                <a:ln w="22225">
                  <a:solidFill>
                    <a:srgbClr val="E6A736"/>
                  </a:solidFill>
                  <a:prstDash val="solid"/>
                </a:ln>
                <a:solidFill>
                  <a:schemeClr val="bg1"/>
                </a:solidFill>
                <a:latin typeface="+mj-lt"/>
                <a:ea typeface="+mj-ea"/>
                <a:cs typeface="+mj-cs"/>
              </a:rPr>
              <a:t>r</a:t>
            </a:r>
            <a:r>
              <a:rPr lang="en-US" sz="5000" b="1" kern="1200" dirty="0">
                <a:ln w="22225">
                  <a:solidFill>
                    <a:srgbClr val="E6A736"/>
                  </a:solidFill>
                  <a:prstDash val="solid"/>
                </a:ln>
                <a:solidFill>
                  <a:schemeClr val="bg1"/>
                </a:solidFill>
                <a:latin typeface="+mj-lt"/>
                <a:ea typeface="+mj-ea"/>
                <a:cs typeface="+mj-cs"/>
              </a:rPr>
              <a:t>ede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2AA34D4-049A-8A8F-F565-6E8C904F2F98}"/>
              </a:ext>
            </a:extLst>
          </p:cNvPr>
          <p:cNvSpPr txBox="1"/>
          <p:nvPr/>
        </p:nvSpPr>
        <p:spPr>
          <a:xfrm>
            <a:off x="838199" y="3859086"/>
            <a:ext cx="1290403" cy="562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ln w="3175">
                  <a:solidFill>
                    <a:srgbClr val="E6A736"/>
                  </a:solidFill>
                  <a:prstDash val="solid"/>
                </a:ln>
                <a:solidFill>
                  <a:schemeClr val="bg1"/>
                </a:solidFill>
                <a:latin typeface="+mj-lt"/>
                <a:ea typeface="+mj-ea"/>
                <a:cs typeface="+mj-cs"/>
              </a:rPr>
              <a:t>NetASD</a:t>
            </a:r>
            <a:endParaRPr lang="en-US" sz="2400" b="1" dirty="0">
              <a:ln w="3175">
                <a:solidFill>
                  <a:srgbClr val="E6A736"/>
                </a:solidFill>
                <a:prstDash val="solid"/>
              </a:ln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8E3185F-D7EF-4AF7-AD0C-8B216B7C3FB3}"/>
              </a:ext>
            </a:extLst>
          </p:cNvPr>
          <p:cNvGrpSpPr/>
          <p:nvPr/>
        </p:nvGrpSpPr>
        <p:grpSpPr>
          <a:xfrm>
            <a:off x="233480" y="5098238"/>
            <a:ext cx="3389300" cy="1584935"/>
            <a:chOff x="233480" y="5098238"/>
            <a:chExt cx="3389300" cy="1584935"/>
          </a:xfrm>
        </p:grpSpPr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DFB5D1EF-FA36-02D6-C866-E9CFFA4D88BC}"/>
                </a:ext>
              </a:extLst>
            </p:cNvPr>
            <p:cNvSpPr txBox="1"/>
            <p:nvPr/>
          </p:nvSpPr>
          <p:spPr>
            <a:xfrm>
              <a:off x="233480" y="5098238"/>
              <a:ext cx="2909966" cy="56237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US" sz="1400" b="1" kern="12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Curso Operador de Sistemas Computacionais em Rede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561A2016-0087-21CE-24A4-0C78B4EE23BB}"/>
                </a:ext>
              </a:extLst>
            </p:cNvPr>
            <p:cNvSpPr txBox="1"/>
            <p:nvPr/>
          </p:nvSpPr>
          <p:spPr>
            <a:xfrm>
              <a:off x="233480" y="5660618"/>
              <a:ext cx="2681662" cy="33041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US" sz="1400" b="1" kern="12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Prof. Anthony Freitas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7C149925-52F9-CEDC-9B22-12C1C1BF60AF}"/>
                </a:ext>
              </a:extLst>
            </p:cNvPr>
            <p:cNvSpPr txBox="1"/>
            <p:nvPr/>
          </p:nvSpPr>
          <p:spPr>
            <a:xfrm>
              <a:off x="233480" y="5991037"/>
              <a:ext cx="3389300" cy="34606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US" sz="1400" b="1" kern="12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Caio Vinícius Pereira Couto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5AEB50D1-4A66-3D04-6182-B1C329F88784}"/>
                </a:ext>
              </a:extLst>
            </p:cNvPr>
            <p:cNvSpPr txBox="1"/>
            <p:nvPr/>
          </p:nvSpPr>
          <p:spPr>
            <a:xfrm>
              <a:off x="233480" y="6337105"/>
              <a:ext cx="1209439" cy="34606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/>
            <a:p>
              <a:pPr>
                <a:lnSpc>
                  <a:spcPct val="90000"/>
                </a:lnSpc>
                <a:spcBef>
                  <a:spcPts val="1000"/>
                </a:spcBef>
              </a:pPr>
              <a:r>
                <a:rPr lang="en-US" sz="1400" b="1" kern="12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07/07/2025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2089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DF5511-D95E-624C-4CC8-03368E5B3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9339DD-05DC-9006-CF83-BB59D67C7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E298F882-081E-0EE9-632A-FC71199D17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29B45E2-49A9-32BB-0FB5-1CA241F64E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F067576-9345-B5B4-DCA4-BB3842E56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2461B7-64DB-C84A-3EEC-C6B99D93C07F}"/>
              </a:ext>
            </a:extLst>
          </p:cNvPr>
          <p:cNvSpPr txBox="1"/>
          <p:nvPr/>
        </p:nvSpPr>
        <p:spPr>
          <a:xfrm>
            <a:off x="4127500" y="64047"/>
            <a:ext cx="3937000" cy="8815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Quem </a:t>
            </a:r>
            <a:r>
              <a:rPr kumimoji="0" lang="en-US" sz="5000" b="1" i="0" u="none" strike="noStrike" kern="1200" cap="none" spc="0" normalizeH="0" baseline="0" noProof="0" dirty="0" err="1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somos</a:t>
            </a:r>
            <a:endParaRPr kumimoji="0" lang="en-US" sz="5000" b="1" i="0" u="none" strike="noStrike" kern="1200" cap="none" spc="0" normalizeH="0" baseline="0" noProof="0" dirty="0">
              <a:ln w="22225">
                <a:solidFill>
                  <a:srgbClr val="E6A736"/>
                </a:solidFill>
                <a:prstDash val="solid"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184ADC-7B7F-5405-213B-FAA708209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C70ECD87-6D37-7737-731B-5397A89D7E3F}"/>
              </a:ext>
            </a:extLst>
          </p:cNvPr>
          <p:cNvSpPr txBox="1"/>
          <p:nvPr/>
        </p:nvSpPr>
        <p:spPr>
          <a:xfrm>
            <a:off x="263341" y="945586"/>
            <a:ext cx="57177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A NetASD é uma empresa especializada em soluções de rede, com 8 anos de atuação no mercado.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Oferecemos serviços de montagem, configuração e manutenção de redes locais (LANs), além da instalação e configuração de servidores de rede como DHCP, Web, Arquivos e Segurança.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Nossa equipe é formada por técnicos e analistas capacitados para entregar soluções completas com excelência e eficiência.</a:t>
            </a:r>
          </a:p>
        </p:txBody>
      </p: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ED39919B-A4B4-4583-8B75-859130DEC6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4A36788-B1A3-2991-0EB7-F0DA03210C02}"/>
              </a:ext>
            </a:extLst>
          </p:cNvPr>
          <p:cNvGrpSpPr/>
          <p:nvPr/>
        </p:nvGrpSpPr>
        <p:grpSpPr>
          <a:xfrm>
            <a:off x="8280892" y="1720686"/>
            <a:ext cx="1409920" cy="1516981"/>
            <a:chOff x="8232342" y="1509874"/>
            <a:chExt cx="1409920" cy="1516981"/>
          </a:xfrm>
        </p:grpSpPr>
        <p:pic>
          <p:nvPicPr>
            <p:cNvPr id="4" name="Imagem 3" descr="Forma&#10;&#10;O conteúdo gerado por IA pode estar incorreto.">
              <a:extLst>
                <a:ext uri="{FF2B5EF4-FFF2-40B4-BE49-F238E27FC236}">
                  <a16:creationId xmlns:a16="http://schemas.microsoft.com/office/drawing/2014/main" id="{43E71CEA-8B18-3831-C965-226A24A9F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 b="47343"/>
            <a:stretch>
              <a:fillRect/>
            </a:stretch>
          </p:blipFill>
          <p:spPr>
            <a:xfrm>
              <a:off x="8291994" y="2687054"/>
              <a:ext cx="1290616" cy="339801"/>
            </a:xfrm>
            <a:prstGeom prst="rect">
              <a:avLst/>
            </a:prstGeom>
          </p:spPr>
        </p:pic>
        <p:pic>
          <p:nvPicPr>
            <p:cNvPr id="10" name="Imagem 9" descr="Ícone&#10;&#10;O conteúdo gerado por IA pode estar incorreto.">
              <a:extLst>
                <a:ext uri="{FF2B5EF4-FFF2-40B4-BE49-F238E27FC236}">
                  <a16:creationId xmlns:a16="http://schemas.microsoft.com/office/drawing/2014/main" id="{9CFDCCC0-BFA2-76F9-3473-76FBE795E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9"/>
                </a:ext>
              </a:extLst>
            </a:blip>
            <a:stretch>
              <a:fillRect/>
            </a:stretch>
          </p:blipFill>
          <p:spPr>
            <a:xfrm>
              <a:off x="8232342" y="1509874"/>
              <a:ext cx="1409920" cy="101778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23049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8EF3BC-4EAC-802D-0451-EA5CC0987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20742AC-A9EA-EBC8-33C3-E6A18512E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8CAA5072-7C9F-84D7-BD35-C94FA24E9E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EED31EED-AD9F-57D6-0C7C-4A8E24848E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C4A8FC1-5F51-E298-5270-2E303EF88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6B769E-A008-E917-2693-CFA19814F26E}"/>
              </a:ext>
            </a:extLst>
          </p:cNvPr>
          <p:cNvSpPr txBox="1"/>
          <p:nvPr/>
        </p:nvSpPr>
        <p:spPr>
          <a:xfrm>
            <a:off x="3867566" y="174431"/>
            <a:ext cx="4456868" cy="6607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Topologia da rede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23FF4C-C811-04F0-7CDB-C5D388BA4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E15B3E1-B625-3B65-27DE-CDA008818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444240"/>
              </p:ext>
            </p:extLst>
          </p:nvPr>
        </p:nvGraphicFramePr>
        <p:xfrm>
          <a:off x="838200" y="1813897"/>
          <a:ext cx="8255625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61">
                  <a:extLst>
                    <a:ext uri="{9D8B030D-6E8A-4147-A177-3AD203B41FA5}">
                      <a16:colId xmlns:a16="http://schemas.microsoft.com/office/drawing/2014/main" val="1774384172"/>
                    </a:ext>
                  </a:extLst>
                </a:gridCol>
                <a:gridCol w="1933731">
                  <a:extLst>
                    <a:ext uri="{9D8B030D-6E8A-4147-A177-3AD203B41FA5}">
                      <a16:colId xmlns:a16="http://schemas.microsoft.com/office/drawing/2014/main" val="2494643962"/>
                    </a:ext>
                  </a:extLst>
                </a:gridCol>
                <a:gridCol w="1638883">
                  <a:extLst>
                    <a:ext uri="{9D8B030D-6E8A-4147-A177-3AD203B41FA5}">
                      <a16:colId xmlns:a16="http://schemas.microsoft.com/office/drawing/2014/main" val="610281357"/>
                    </a:ext>
                  </a:extLst>
                </a:gridCol>
                <a:gridCol w="1651125">
                  <a:extLst>
                    <a:ext uri="{9D8B030D-6E8A-4147-A177-3AD203B41FA5}">
                      <a16:colId xmlns:a16="http://schemas.microsoft.com/office/drawing/2014/main" val="3180147428"/>
                    </a:ext>
                  </a:extLst>
                </a:gridCol>
                <a:gridCol w="1651125">
                  <a:extLst>
                    <a:ext uri="{9D8B030D-6E8A-4147-A177-3AD203B41FA5}">
                      <a16:colId xmlns:a16="http://schemas.microsoft.com/office/drawing/2014/main" val="1771097708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sz="4000" dirty="0"/>
                        <a:t>Bullet Points: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23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22 PCs para os setores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 notebooks para diretores/gerentes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 servidores (DHCP e Web)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 Switches (24 + 8 portas)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Roteador Wireless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1048380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17E48CA3-8C9A-379D-E89B-BE5315A06DEC}"/>
              </a:ext>
            </a:extLst>
          </p:cNvPr>
          <p:cNvSpPr/>
          <p:nvPr/>
        </p:nvSpPr>
        <p:spPr>
          <a:xfrm>
            <a:off x="2283174" y="3989037"/>
            <a:ext cx="2264764" cy="853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Conexão com a internet pela nuvem</a:t>
            </a:r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9195E031-3FB0-B722-E74A-97A9D35823A4}"/>
              </a:ext>
            </a:extLst>
          </p:cNvPr>
          <p:cNvSpPr/>
          <p:nvPr/>
        </p:nvSpPr>
        <p:spPr>
          <a:xfrm>
            <a:off x="3380706" y="3056183"/>
            <a:ext cx="502848" cy="880813"/>
          </a:xfrm>
          <a:prstGeom prst="downArrow">
            <a:avLst>
              <a:gd name="adj1" fmla="val 60983"/>
              <a:gd name="adj2" fmla="val 7218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23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61227-973F-53F7-5394-BC1E9E93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4B31932-01DE-A232-2762-2F3BE5F08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7F7D4543-4E7A-9B95-FC19-7D431B81B7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EECCFE35-869E-D90A-7E88-B40BF6499B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F01253B-ADA8-CA03-0AC5-3AB7C8C80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635A54B-A29F-63B4-4DDB-826A756C0914}"/>
              </a:ext>
            </a:extLst>
          </p:cNvPr>
          <p:cNvSpPr txBox="1"/>
          <p:nvPr/>
        </p:nvSpPr>
        <p:spPr>
          <a:xfrm>
            <a:off x="3567091" y="172463"/>
            <a:ext cx="5057815" cy="6647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Por que essa configuração?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7CAE86-25D1-DFFF-E92C-0E3D50D82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5284E334-F37F-2B72-ACDE-CE2A6D995DFF}"/>
              </a:ext>
            </a:extLst>
          </p:cNvPr>
          <p:cNvSpPr txBox="1"/>
          <p:nvPr/>
        </p:nvSpPr>
        <p:spPr>
          <a:xfrm>
            <a:off x="378265" y="1325417"/>
            <a:ext cx="57177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Servidores dedicados: DHCP e Web / DNS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sz="2000" dirty="0">
              <a:solidFill>
                <a:prstClr val="white"/>
              </a:solidFill>
              <a:latin typeface="Aptos" panose="02110004020202020204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white"/>
                </a:solidFill>
              </a:rPr>
              <a:t>Rede cabeada + WiFi: flexibilidade e mobilidade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white"/>
                </a:solidFill>
              </a:rPr>
              <a:t>Segmentação por setores: performance e segurança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white"/>
                </a:solidFill>
              </a:rPr>
              <a:t>DHCP para facilitação da administração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DA2AE9CD-EBE6-9407-197C-ED5DFC58BD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85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01CEF-4298-EB75-B09E-D959B8A25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48423BA-A520-5648-10C6-410BB97B7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141C40D1-BFCE-E953-11BF-0C43A5A028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A3B1C1DA-788F-F510-6B96-EC0CAD2F7F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5C7C056-23EE-FC70-1489-D000304FB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0474D4B-041C-DE54-DDB7-CA7085954865}"/>
              </a:ext>
            </a:extLst>
          </p:cNvPr>
          <p:cNvSpPr txBox="1"/>
          <p:nvPr/>
        </p:nvSpPr>
        <p:spPr>
          <a:xfrm>
            <a:off x="3932697" y="259226"/>
            <a:ext cx="4326605" cy="8734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Orçamento estipulado de equipamentos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ADC936-97DA-572A-48F1-DF6C7811E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394B6178-ED43-8F37-5609-D4062EEFFAB6}"/>
              </a:ext>
            </a:extLst>
          </p:cNvPr>
          <p:cNvSpPr txBox="1"/>
          <p:nvPr/>
        </p:nvSpPr>
        <p:spPr>
          <a:xfrm>
            <a:off x="378264" y="1325417"/>
            <a:ext cx="719819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white"/>
                </a:solidFill>
              </a:rPr>
              <a:t>Equipamentos de rede: R$ 1.425,00</a:t>
            </a:r>
          </a:p>
          <a:p>
            <a:pPr lvl="0"/>
            <a:endParaRPr lang="pt-BR" sz="2000" dirty="0">
              <a:solidFill>
                <a:prstClr val="white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white"/>
                </a:solidFill>
              </a:rPr>
              <a:t>Servidores: R$ 8.000,00</a:t>
            </a:r>
          </a:p>
          <a:p>
            <a:pPr lvl="0"/>
            <a:endParaRPr lang="pt-BR" sz="2000" dirty="0">
              <a:solidFill>
                <a:prstClr val="white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white"/>
                </a:solidFill>
              </a:rPr>
              <a:t>Computadores e laptops: R$ 63.100,00</a:t>
            </a:r>
          </a:p>
          <a:p>
            <a:pPr lvl="0"/>
            <a:endParaRPr lang="pt-BR" sz="2000" dirty="0">
              <a:solidFill>
                <a:prstClr val="white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prstClr val="white"/>
                </a:solidFill>
              </a:rPr>
              <a:t>Materiais de instalação: R$ 2.470,</a:t>
            </a:r>
          </a:p>
          <a:p>
            <a:pPr lvl="0"/>
            <a:endParaRPr lang="pt-BR" sz="2000" dirty="0">
              <a:solidFill>
                <a:prstClr val="white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800" b="1" dirty="0">
                <a:solidFill>
                  <a:prstClr val="white"/>
                </a:solidFill>
              </a:rPr>
              <a:t>Valor Total Equipamentos: R$ 74.995,00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DB7C29A2-F85E-0206-AB7C-2E8D64C382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42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5F2DE-4F7E-981A-9ED7-CBBD2881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89A9B33-4FA3-628E-D30E-2C33AD8F9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6FCE2E1F-7FBC-9C78-2D46-FAB750D67B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65A14E02-5070-C479-529B-7D53B0469A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E7CBE84-103B-29C9-55FC-5D3D3C40B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D72E0DA-F140-E26C-DE4A-DC3F765EDEE7}"/>
              </a:ext>
            </a:extLst>
          </p:cNvPr>
          <p:cNvSpPr txBox="1"/>
          <p:nvPr/>
        </p:nvSpPr>
        <p:spPr>
          <a:xfrm>
            <a:off x="2846535" y="225959"/>
            <a:ext cx="6498929" cy="8734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Orçamento estimulado de mão de obra e custos administrativos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1B9FFC-7154-30F8-7F85-DB5347FD2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18675DB6-2319-9E19-6B1F-B94560AA357D}"/>
              </a:ext>
            </a:extLst>
          </p:cNvPr>
          <p:cNvSpPr txBox="1"/>
          <p:nvPr/>
        </p:nvSpPr>
        <p:spPr>
          <a:xfrm>
            <a:off x="378264" y="1325417"/>
            <a:ext cx="71981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Mão de obra técnica: R$ 8.300,00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Custos administrativos/operacionais: R$ 1.660,00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Valor Mão de obra: R$ R$ 9.960,00</a:t>
            </a:r>
          </a:p>
        </p:txBody>
      </p: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2C563724-B87D-E5EC-B42B-057271CF00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3453BED-D329-28AE-E6F0-1BBA0D9D7917}"/>
              </a:ext>
            </a:extLst>
          </p:cNvPr>
          <p:cNvSpPr txBox="1"/>
          <p:nvPr/>
        </p:nvSpPr>
        <p:spPr>
          <a:xfrm>
            <a:off x="378264" y="3881940"/>
            <a:ext cx="8953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Valor Total: R$ 74.995,00 + R$ 9.960,00 = R$ 84.955,00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5682BA-20D1-250D-42AA-EA70E2240695}"/>
              </a:ext>
            </a:extLst>
          </p:cNvPr>
          <p:cNvSpPr txBox="1"/>
          <p:nvPr/>
        </p:nvSpPr>
        <p:spPr>
          <a:xfrm>
            <a:off x="380072" y="4605691"/>
            <a:ext cx="4417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Desconto de 2% para pagamento à vista (R$ 1.693,10)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59CE6F-FEB1-24F4-4B6D-E6C086D19D11}"/>
              </a:ext>
            </a:extLst>
          </p:cNvPr>
          <p:cNvSpPr txBox="1"/>
          <p:nvPr/>
        </p:nvSpPr>
        <p:spPr>
          <a:xfrm>
            <a:off x="378264" y="5431525"/>
            <a:ext cx="4417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000" b="1" dirty="0">
                <a:solidFill>
                  <a:prstClr val="white"/>
                </a:solidFill>
                <a:latin typeface="Aptos" panose="02110004020202020204"/>
              </a:rPr>
              <a:t>R$ 83.255,90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3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ABF24-F25E-6A0C-3FFD-7857CE5B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E78C3B3-143B-6CD4-4C43-DC0763714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B7AAF968-A383-4AEE-7ABA-1ADBDEAE4D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10F40D1-F5CE-73C4-4445-CA8B0D2B05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DBB3F25-33F9-9A8D-3C37-D87A51D90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74118B-ADEA-FB3A-4663-C896511F9EF0}"/>
              </a:ext>
            </a:extLst>
          </p:cNvPr>
          <p:cNvSpPr txBox="1"/>
          <p:nvPr/>
        </p:nvSpPr>
        <p:spPr>
          <a:xfrm>
            <a:off x="2846535" y="147913"/>
            <a:ext cx="6498929" cy="8734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Por que contratar a NetASD?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EAC03D-31F5-EF28-2E52-82780FC7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96797F-459F-195C-0E01-9B61A3801A51}"/>
              </a:ext>
            </a:extLst>
          </p:cNvPr>
          <p:cNvSpPr txBox="1"/>
          <p:nvPr/>
        </p:nvSpPr>
        <p:spPr>
          <a:xfrm>
            <a:off x="838199" y="1616911"/>
            <a:ext cx="71981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Equipe técnica especializada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Projeto completo e detalhado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Suporte antes e depois da implantação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pt-BR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Compromisso com qualidade e inovação</a:t>
            </a:r>
          </a:p>
        </p:txBody>
      </p: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4236C8E8-5555-E6E4-CF09-BBFCAD8B28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724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8629B-A6D7-5EAE-5C6E-7E5F31877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C9AA939-69BD-3188-D830-AB3411565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C2104B33-A5A3-E3A2-88C3-9B92074E77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4597EE20-75CE-F8A9-2965-6456478471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37E0286-82AF-F224-FCC1-791C2346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A50E16B-05B9-0820-DE45-13AA5A30B834}"/>
              </a:ext>
            </a:extLst>
          </p:cNvPr>
          <p:cNvSpPr txBox="1"/>
          <p:nvPr/>
        </p:nvSpPr>
        <p:spPr>
          <a:xfrm>
            <a:off x="2846535" y="68067"/>
            <a:ext cx="6498929" cy="8734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Diagrama da rede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E65C34-EF75-2F1D-D686-31C4B3FDC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8B805403-3E52-DD81-691F-F13E1BE082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3F8A85F8-5D17-716A-3647-88BFADC8C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85" t="-13668" r="-2885" b="-28065"/>
          <a:stretch>
            <a:fillRect/>
          </a:stretch>
        </p:blipFill>
        <p:spPr>
          <a:xfrm>
            <a:off x="0" y="1214203"/>
            <a:ext cx="12192000" cy="564379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59248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27290-DD2C-DFE5-8C19-61FB2465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1559A10-5372-9BF2-33B2-803AD6A47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0AF74CEC-6C1C-8E62-07E0-8CAEC90DF2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9430C479-621B-4062-3B1D-8F004F9100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CFD48FF-F302-6098-30FD-46D9B1488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361AD8F-160C-ECB6-B159-A7D2D254821F}"/>
              </a:ext>
            </a:extLst>
          </p:cNvPr>
          <p:cNvSpPr txBox="1"/>
          <p:nvPr/>
        </p:nvSpPr>
        <p:spPr>
          <a:xfrm>
            <a:off x="2846535" y="68067"/>
            <a:ext cx="6498929" cy="8734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Cronograma de implantação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6727ED-BD98-0037-6F2A-862F49F76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41DC1AEA-D99A-B101-4A4B-580DAAA277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E2FB5AE-1D73-1DEA-4C10-4BB67BCB5B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89" t="-3521" r="-1789" b="-15624"/>
          <a:stretch>
            <a:fillRect/>
          </a:stretch>
        </p:blipFill>
        <p:spPr>
          <a:xfrm>
            <a:off x="0" y="1214203"/>
            <a:ext cx="12192000" cy="564379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2658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E3992-F57C-20BA-B53B-33A67BB4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C2F82FD-1522-1A95-69EA-BADA4EE9F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Imagem 6" descr="Desenho de rosto de pessoa visto de perto&#10;&#10;O conteúdo gerado por IA pode estar incorreto.">
            <a:extLst>
              <a:ext uri="{FF2B5EF4-FFF2-40B4-BE49-F238E27FC236}">
                <a16:creationId xmlns:a16="http://schemas.microsoft.com/office/drawing/2014/main" id="{4B214894-10D7-0177-6F88-0B90D1C4EC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2" r="-1" b="-1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53AF422-BB00-75A2-C777-EE8E9EDC69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81" r="-1" b="2906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52C5A207-5598-B317-4A98-D58CE42F2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9811A8A-C88A-824F-FF9F-4AA3D73F8FE6}"/>
              </a:ext>
            </a:extLst>
          </p:cNvPr>
          <p:cNvSpPr txBox="1"/>
          <p:nvPr/>
        </p:nvSpPr>
        <p:spPr>
          <a:xfrm>
            <a:off x="2846535" y="68067"/>
            <a:ext cx="6498929" cy="8734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 w="22225">
                  <a:solidFill>
                    <a:srgbClr val="E6A736"/>
                  </a:solidFill>
                  <a:prstDash val="solid"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Obrigado pela oportunidade!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3AAA02-9489-59E9-B6E9-B4DDFA8F6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6" descr="Imagens Ícone Internet PNG e Vetor, com Fundo Transparente Para Download  Grátis | Pngtree">
            <a:extLst>
              <a:ext uri="{FF2B5EF4-FFF2-40B4-BE49-F238E27FC236}">
                <a16:creationId xmlns:a16="http://schemas.microsoft.com/office/drawing/2014/main" id="{DA36A97E-E663-B7BB-26FC-3F8C72BFCF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38412" y="2479179"/>
            <a:ext cx="1815388" cy="181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C8B4FBE-8E2D-5237-D053-198711572182}"/>
              </a:ext>
            </a:extLst>
          </p:cNvPr>
          <p:cNvSpPr/>
          <p:nvPr/>
        </p:nvSpPr>
        <p:spPr>
          <a:xfrm>
            <a:off x="1" y="1161739"/>
            <a:ext cx="12191999" cy="5696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553D59-7326-2F1A-4F64-D37748016BF9}"/>
              </a:ext>
            </a:extLst>
          </p:cNvPr>
          <p:cNvSpPr txBox="1"/>
          <p:nvPr/>
        </p:nvSpPr>
        <p:spPr>
          <a:xfrm>
            <a:off x="269082" y="3732876"/>
            <a:ext cx="3177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NetASD,</a:t>
            </a:r>
          </a:p>
          <a:p>
            <a:r>
              <a:rPr lang="pt-BR" dirty="0"/>
              <a:t>A interNet Ao Seu Dispor.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F751CB-5BB2-C5E0-AA0C-A89BC4446213}"/>
              </a:ext>
            </a:extLst>
          </p:cNvPr>
          <p:cNvSpPr txBox="1"/>
          <p:nvPr/>
        </p:nvSpPr>
        <p:spPr>
          <a:xfrm>
            <a:off x="3997376" y="1883530"/>
            <a:ext cx="4197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Conte com a NetASD para projetos de rede com qualidade profissional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DDE9D37-8A94-81F9-6D6E-1F7D39C02EBB}"/>
              </a:ext>
            </a:extLst>
          </p:cNvPr>
          <p:cNvSpPr txBox="1"/>
          <p:nvPr/>
        </p:nvSpPr>
        <p:spPr>
          <a:xfrm>
            <a:off x="269082" y="4768082"/>
            <a:ext cx="5154906" cy="1701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E-mail:</a:t>
            </a:r>
            <a:r>
              <a:rPr lang="pt-BR" sz="2400" dirty="0"/>
              <a:t> </a:t>
            </a:r>
            <a:r>
              <a:rPr lang="pt-BR" sz="2400" dirty="0">
                <a:hlinkClick r:id="rId4"/>
              </a:rPr>
              <a:t>contato@netasd.com.br</a:t>
            </a: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b="1" dirty="0"/>
              <a:t>Telefone:</a:t>
            </a:r>
            <a:r>
              <a:rPr lang="pt-BR" sz="2400" dirty="0"/>
              <a:t> (21) 99999-9999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Site:</a:t>
            </a:r>
            <a:r>
              <a:rPr lang="pt-BR" sz="2400" dirty="0"/>
              <a:t> </a:t>
            </a:r>
            <a:r>
              <a:rPr lang="pt-BR" sz="2400" dirty="0">
                <a:hlinkClick r:id="rId5"/>
              </a:rPr>
              <a:t>www.netasd.com</a:t>
            </a:r>
            <a:r>
              <a:rPr lang="pt-BR" sz="2400">
                <a:hlinkClick r:id="rId5"/>
              </a:rPr>
              <a:t>.br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23507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347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CAIO VINICIUS PEREIRA COUTO</dc:creator>
  <cp:lastModifiedBy>CAIO VINICIUS PEREIRA COUTO</cp:lastModifiedBy>
  <cp:revision>2</cp:revision>
  <dcterms:created xsi:type="dcterms:W3CDTF">2025-07-07T19:40:30Z</dcterms:created>
  <dcterms:modified xsi:type="dcterms:W3CDTF">2025-07-07T22:32:31Z</dcterms:modified>
</cp:coreProperties>
</file>