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Gill Sans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illSans-bold.fntdata"/><Relationship Id="rId14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b="0" sz="2000"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9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71" name="Google Shape;71;p9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4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4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4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4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8.jp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Dslconnect@hotmail.com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Conexões Digitais" id="102" name="Google Shape;102;p13"/>
          <p:cNvPicPr preferRelativeResize="0"/>
          <p:nvPr/>
        </p:nvPicPr>
        <p:blipFill rotWithShape="1">
          <a:blip r:embed="rId3">
            <a:alphaModFix/>
          </a:blip>
          <a:srcRect b="-1" l="13265" r="3502" t="9091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3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04" name="Google Shape;104;p13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7" name="Google Shape;107;p13"/>
          <p:cNvSpPr/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6862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" name="Google Shape;108;p13"/>
          <p:cNvSpPr txBox="1"/>
          <p:nvPr>
            <p:ph type="ctrTitle"/>
          </p:nvPr>
        </p:nvSpPr>
        <p:spPr>
          <a:xfrm>
            <a:off x="581192" y="4572000"/>
            <a:ext cx="6094912" cy="8952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pt-BR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DSL CONNECT</a:t>
            </a:r>
            <a:endParaRPr/>
          </a:p>
        </p:txBody>
      </p:sp>
      <p:sp>
        <p:nvSpPr>
          <p:cNvPr id="109" name="Google Shape;109;p13"/>
          <p:cNvSpPr txBox="1"/>
          <p:nvPr>
            <p:ph idx="1" type="subTitle"/>
          </p:nvPr>
        </p:nvSpPr>
        <p:spPr>
          <a:xfrm>
            <a:off x="581194" y="5467246"/>
            <a:ext cx="7618909" cy="484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>
                <a:solidFill>
                  <a:srgbClr val="7CEBFF"/>
                </a:solidFill>
                <a:latin typeface="Arial"/>
                <a:ea typeface="Arial"/>
                <a:cs typeface="Arial"/>
                <a:sym typeface="Arial"/>
              </a:rPr>
              <a:t>INOVANDO SUA EMPRESA COM O MELHOR DO MERCADO TECNOLÓGICO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pt-BR"/>
              <a:t>QUEM É A DSL CONNECT</a:t>
            </a:r>
            <a:endParaRPr/>
          </a:p>
        </p:txBody>
      </p:sp>
      <p:pic>
        <p:nvPicPr>
          <p:cNvPr descr="Gráficos" id="116" name="Google Shape;116;p14"/>
          <p:cNvPicPr preferRelativeResize="0"/>
          <p:nvPr>
            <p:ph idx="1" type="body"/>
          </p:nvPr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410828" y="2231481"/>
            <a:ext cx="11370344" cy="389686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3272590" y="3011905"/>
            <a:ext cx="5646820" cy="2459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EMPRESA GABARITADA EM SOLUÇÕES TECNOLÓGICAS.</a:t>
            </a:r>
            <a:endParaRPr/>
          </a:p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FÍSICAS/ESTRUTURAIS E LÓGICAS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p14:dur="100">
        <p:fade thruBlk="1"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úmeros Digitais" id="122" name="Google Shape;122;p15"/>
          <p:cNvPicPr preferRelativeResize="0"/>
          <p:nvPr/>
        </p:nvPicPr>
        <p:blipFill rotWithShape="1">
          <a:blip r:embed="rId3">
            <a:alphaModFix/>
          </a:blip>
          <a:srcRect b="12711" l="0" r="9091" t="1068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5"/>
          <p:cNvGrpSpPr/>
          <p:nvPr/>
        </p:nvGrpSpPr>
        <p:grpSpPr>
          <a:xfrm>
            <a:off x="740630" y="2855181"/>
            <a:ext cx="10710739" cy="1361980"/>
            <a:chOff x="4030" y="1607128"/>
            <a:chExt cx="10710739" cy="1361980"/>
          </a:xfrm>
        </p:grpSpPr>
        <p:sp>
          <p:nvSpPr>
            <p:cNvPr id="124" name="Google Shape;124;p15"/>
            <p:cNvSpPr/>
            <p:nvPr/>
          </p:nvSpPr>
          <p:spPr>
            <a:xfrm>
              <a:off x="4030" y="1640042"/>
              <a:ext cx="2423244" cy="595188"/>
            </a:xfrm>
            <a:prstGeom prst="rect">
              <a:avLst/>
            </a:prstGeom>
            <a:solidFill>
              <a:srgbClr val="173160"/>
            </a:solidFill>
            <a:ln cap="rnd" cmpd="sng" w="22225">
              <a:solidFill>
                <a:srgbClr val="1731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 txBox="1"/>
            <p:nvPr/>
          </p:nvSpPr>
          <p:spPr>
            <a:xfrm>
              <a:off x="4030" y="1640042"/>
              <a:ext cx="2423244" cy="595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pt-BR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SERVIDORES</a:t>
              </a: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4030" y="2309233"/>
              <a:ext cx="2423244" cy="626961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cap="rnd" cmpd="sng" w="22225">
              <a:solidFill>
                <a:srgbClr val="CBCCD1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4030" y="2309233"/>
              <a:ext cx="2423244" cy="6269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2un Xeon/i7</a:t>
              </a: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2766528" y="1624373"/>
              <a:ext cx="2423244" cy="595181"/>
            </a:xfrm>
            <a:prstGeom prst="rect">
              <a:avLst/>
            </a:prstGeom>
            <a:solidFill>
              <a:srgbClr val="173160"/>
            </a:solidFill>
            <a:ln cap="rnd" cmpd="sng" w="22225">
              <a:solidFill>
                <a:srgbClr val="1731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5"/>
            <p:cNvSpPr txBox="1"/>
            <p:nvPr/>
          </p:nvSpPr>
          <p:spPr>
            <a:xfrm>
              <a:off x="2766528" y="1624373"/>
              <a:ext cx="2423244" cy="595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pt-BR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SWITCHS</a:t>
              </a: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766528" y="2262208"/>
              <a:ext cx="2423244" cy="68965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cap="rnd" cmpd="sng" w="22225">
              <a:solidFill>
                <a:srgbClr val="CBCCD1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2766528" y="2262208"/>
              <a:ext cx="2423244" cy="689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2un de 24 Portas </a:t>
              </a: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5529027" y="1624373"/>
              <a:ext cx="2423244" cy="595181"/>
            </a:xfrm>
            <a:prstGeom prst="rect">
              <a:avLst/>
            </a:prstGeom>
            <a:solidFill>
              <a:srgbClr val="173160"/>
            </a:solidFill>
            <a:ln cap="rnd" cmpd="sng" w="22225">
              <a:solidFill>
                <a:srgbClr val="1731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5"/>
            <p:cNvSpPr txBox="1"/>
            <p:nvPr/>
          </p:nvSpPr>
          <p:spPr>
            <a:xfrm>
              <a:off x="5529027" y="1624373"/>
              <a:ext cx="2423244" cy="595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pt-BR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ROTEADOR WIRELESS</a:t>
              </a: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5529027" y="2262208"/>
              <a:ext cx="2423244" cy="689655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cap="rnd" cmpd="sng" w="22225">
              <a:solidFill>
                <a:srgbClr val="CBCCD1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5529027" y="2262208"/>
              <a:ext cx="2423244" cy="689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1un  </a:t>
              </a: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291525" y="1607128"/>
              <a:ext cx="2423244" cy="595188"/>
            </a:xfrm>
            <a:prstGeom prst="rect">
              <a:avLst/>
            </a:prstGeom>
            <a:solidFill>
              <a:srgbClr val="173160"/>
            </a:solidFill>
            <a:ln cap="rnd" cmpd="sng" w="22225">
              <a:solidFill>
                <a:srgbClr val="17316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 txBox="1"/>
            <p:nvPr/>
          </p:nvSpPr>
          <p:spPr>
            <a:xfrm>
              <a:off x="8291525" y="1607128"/>
              <a:ext cx="2423244" cy="595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9075" lIns="120900" spcFirstLastPara="1" rIns="120900" wrap="square" tIns="690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"/>
                <a:buNone/>
              </a:pPr>
              <a:r>
                <a:rPr lang="pt-BR" sz="17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COMPUTADORES</a:t>
              </a:r>
              <a:endParaRPr/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8291525" y="2210491"/>
              <a:ext cx="2423244" cy="758617"/>
            </a:xfrm>
            <a:prstGeom prst="rect">
              <a:avLst/>
            </a:prstGeom>
            <a:solidFill>
              <a:srgbClr val="CBCCD1">
                <a:alpha val="89803"/>
              </a:srgbClr>
            </a:solidFill>
            <a:ln cap="rnd" cmpd="sng" w="22225">
              <a:solidFill>
                <a:srgbClr val="CBCCD1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5"/>
            <p:cNvSpPr txBox="1"/>
            <p:nvPr/>
          </p:nvSpPr>
          <p:spPr>
            <a:xfrm>
              <a:off x="8291525" y="2210491"/>
              <a:ext cx="2423244" cy="7586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6000" lIns="90675" spcFirstLastPara="1" rIns="120900" wrap="square" tIns="90675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22un desktop</a:t>
              </a:r>
              <a:endParaRPr/>
            </a:p>
            <a:p>
              <a:pPr indent="-171450" lvl="1" marL="171450" marR="0" rtl="0" algn="ctr">
                <a:lnSpc>
                  <a:spcPct val="90000"/>
                </a:lnSpc>
                <a:spcBef>
                  <a:spcPts val="255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b="0" i="0" lang="pt-BR" sz="17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6un notebook</a:t>
              </a:r>
              <a:endParaRPr/>
            </a:p>
          </p:txBody>
        </p:sp>
      </p:grpSp>
      <p:sp>
        <p:nvSpPr>
          <p:cNvPr id="140" name="Google Shape;140;p15"/>
          <p:cNvSpPr txBox="1"/>
          <p:nvPr/>
        </p:nvSpPr>
        <p:spPr>
          <a:xfrm>
            <a:off x="2385141" y="687117"/>
            <a:ext cx="7213600" cy="1121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pt-BR" sz="280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COMPOSIÇÃO</a:t>
            </a:r>
            <a:r>
              <a:rPr b="0" lang="pt-BR" sz="2800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DOS EQUIPAMENTOS</a:t>
            </a:r>
            <a:endParaRPr/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575894" y="729658"/>
            <a:ext cx="11029616" cy="12667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pt-BR" sz="2600">
                <a:latin typeface="Arial"/>
                <a:ea typeface="Arial"/>
                <a:cs typeface="Arial"/>
                <a:sym typeface="Arial"/>
              </a:rPr>
              <a:t>ENTENDA A ESTRUTURA</a:t>
            </a:r>
            <a:br>
              <a:rPr lang="pt-BR" sz="1300"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latin typeface="Arial"/>
                <a:ea typeface="Arial"/>
                <a:cs typeface="Arial"/>
                <a:sym typeface="Arial"/>
              </a:rPr>
              <a:t>VISANDO A MELHOR PERFORMANCE E DESIGN, PREPARAMOS ESSE MODELO DE ESTRUTURA</a:t>
            </a:r>
            <a:br>
              <a:rPr lang="pt-BR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, Diagrama&#10;&#10;O conteúdo gerado por IA pode estar incorreto." id="146" name="Google Shape;146;p16"/>
          <p:cNvPicPr preferRelativeResize="0"/>
          <p:nvPr/>
        </p:nvPicPr>
        <p:blipFill rotWithShape="1">
          <a:blip r:embed="rId3">
            <a:alphaModFix/>
          </a:blip>
          <a:srcRect b="20237" l="0" r="896" t="14219"/>
          <a:stretch/>
        </p:blipFill>
        <p:spPr>
          <a:xfrm>
            <a:off x="1722120" y="2152013"/>
            <a:ext cx="9265920" cy="3976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581192" y="5262296"/>
            <a:ext cx="10833568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EQUIPAMENTOS</a:t>
            </a:r>
            <a:r>
              <a:rPr lang="pt-BR">
                <a:solidFill>
                  <a:schemeClr val="lt1"/>
                </a:solidFill>
              </a:rPr>
              <a:t> ESCOLHIDOS DEVIDO AO BOM DESEMPENHO APRESENTADO AO LONGO DE DIVERSOS ANOS.</a:t>
            </a:r>
            <a:endParaRPr/>
          </a:p>
        </p:txBody>
      </p:sp>
      <p:pic>
        <p:nvPicPr>
          <p:cNvPr descr="View Dell PowerEdge R760 Rack Server. 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35" y="1408843"/>
            <a:ext cx="3631110" cy="1167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tebook Samsung Galaxy Book4 15.6&quot; Intel Core I5 8gb/512gb Windows 11 Home" id="153" name="Google Shape;153;p17"/>
          <p:cNvPicPr preferRelativeResize="0"/>
          <p:nvPr/>
        </p:nvPicPr>
        <p:blipFill rotWithShape="1">
          <a:blip r:embed="rId4">
            <a:alphaModFix/>
          </a:blip>
          <a:srcRect b="22000" l="8667" r="8889" t="22000"/>
          <a:stretch/>
        </p:blipFill>
        <p:spPr>
          <a:xfrm>
            <a:off x="4864051" y="906190"/>
            <a:ext cx="2267850" cy="1540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t Computador Desktop Dell Vostro 3681-M20M 10ª Geração Intel Core i5 8GB  1TB Windows 10 + Monitor 21&quot; - Magazine Ofertaesperta em Promoção no Oferta  Esperta" id="154" name="Google Shape;154;p17"/>
          <p:cNvPicPr preferRelativeResize="0"/>
          <p:nvPr/>
        </p:nvPicPr>
        <p:blipFill rotWithShape="1">
          <a:blip r:embed="rId5">
            <a:alphaModFix/>
          </a:blip>
          <a:srcRect b="15443" l="6112" r="15789" t="13024"/>
          <a:stretch/>
        </p:blipFill>
        <p:spPr>
          <a:xfrm>
            <a:off x="3459728" y="3246120"/>
            <a:ext cx="1863550" cy="17068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mo escolher um roteador? Veja seis dicas para comprar o modelo ideal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5520" y="2513192"/>
            <a:ext cx="3840480" cy="222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BO GIGALAN U-UTP 4P X 23AWG CAT6 CM CZ" id="156" name="Google Shape;15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84972" y="1111304"/>
            <a:ext cx="1852791" cy="1130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ector Rj45 Blindado Cat5e - 8 Vias" id="157" name="Google Shape;157;p17"/>
          <p:cNvPicPr preferRelativeResize="0"/>
          <p:nvPr/>
        </p:nvPicPr>
        <p:blipFill rotWithShape="1">
          <a:blip r:embed="rId8">
            <a:alphaModFix/>
          </a:blip>
          <a:srcRect b="27777" l="23778" r="23275" t="30445"/>
          <a:stretch/>
        </p:blipFill>
        <p:spPr>
          <a:xfrm>
            <a:off x="1034712" y="3429000"/>
            <a:ext cx="1135258" cy="8957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ack Parede Max Eletron 19&quot; 12u X 570mm, Preto - 4409" id="158" name="Google Shape;158;p17"/>
          <p:cNvPicPr preferRelativeResize="0"/>
          <p:nvPr/>
        </p:nvPicPr>
        <p:blipFill rotWithShape="1">
          <a:blip r:embed="rId9">
            <a:alphaModFix/>
          </a:blip>
          <a:srcRect b="6888" l="46444" r="13707" t="47333"/>
          <a:stretch/>
        </p:blipFill>
        <p:spPr>
          <a:xfrm>
            <a:off x="9782806" y="2710264"/>
            <a:ext cx="1852792" cy="212847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4556760" y="2675974"/>
            <a:ext cx="257514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Figuras meramente ilustrativas</a:t>
            </a:r>
            <a:endParaRPr/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ctrTitle"/>
          </p:nvPr>
        </p:nvSpPr>
        <p:spPr>
          <a:xfrm>
            <a:off x="581190" y="1049814"/>
            <a:ext cx="3194397" cy="8190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ORÇAMENTO</a:t>
            </a:r>
            <a:endParaRPr/>
          </a:p>
        </p:txBody>
      </p:sp>
      <p:sp>
        <p:nvSpPr>
          <p:cNvPr id="165" name="Google Shape;165;p18"/>
          <p:cNvSpPr txBox="1"/>
          <p:nvPr>
            <p:ph idx="1" type="subTitle"/>
          </p:nvPr>
        </p:nvSpPr>
        <p:spPr>
          <a:xfrm>
            <a:off x="581190" y="2218153"/>
            <a:ext cx="2801107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/>
              <a:t>MÃO DE OBRA E LOGÍSTICA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077965" y="4338412"/>
            <a:ext cx="46746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Valor </a:t>
            </a:r>
            <a:r>
              <a:rPr lang="pt-BR" sz="3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pt-BR" sz="3600">
                <a:solidFill>
                  <a:schemeClr val="dk1"/>
                </a:solidFill>
                <a:highlight>
                  <a:srgbClr val="FFFF00"/>
                </a:highlight>
                <a:latin typeface="Gill Sans"/>
                <a:ea typeface="Gill Sans"/>
                <a:cs typeface="Gill Sans"/>
                <a:sym typeface="Gill Sans"/>
              </a:rPr>
              <a:t> R$ 10.536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51332" y="3183560"/>
            <a:ext cx="3308604" cy="2742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Técnicos em infraestrutura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Técnicos em redes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Logística e transporte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Auxiliares técnicos</a:t>
            </a: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39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ctrTitle"/>
          </p:nvPr>
        </p:nvSpPr>
        <p:spPr>
          <a:xfrm>
            <a:off x="581189" y="1199534"/>
            <a:ext cx="3135406" cy="6983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pt-BR"/>
              <a:t>ORÇAMENTO </a:t>
            </a:r>
            <a:endParaRPr/>
          </a:p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>
            <a:off x="581188" y="2200285"/>
            <a:ext cx="3017418" cy="316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/>
              <a:t>EQUIPAMENTOS E ACESSÓRIOS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4032" y="3228936"/>
            <a:ext cx="3308604" cy="3055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Servidores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Desktops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Notebooks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Switches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Roteador</a:t>
            </a: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wireless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pt-BR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Demais acessórios</a:t>
            </a:r>
            <a:endParaRPr/>
          </a:p>
          <a:p>
            <a:pPr indent="-158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7071364" y="4292935"/>
            <a:ext cx="40538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Valor </a:t>
            </a:r>
            <a:r>
              <a:rPr lang="pt-BR" sz="36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total</a:t>
            </a:r>
            <a:r>
              <a:rPr lang="pt-BR" sz="30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R$ 83.070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6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581192" y="702156"/>
            <a:ext cx="4629905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pt-BR"/>
              <a:t>PRÉVIA PARA CONCLUSÃO</a:t>
            </a:r>
            <a:br>
              <a:rPr lang="pt-BR"/>
            </a:b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511300" y="2095500"/>
            <a:ext cx="962960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Requisitos...................................................................1 dia		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Compra.......................................................................1 dia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Instalação De Cabeamento........................................2 dias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Instalação De Equipamentos.....................................1 dia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Configuração Dos Dispositivos..................................2 dias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Treinamento ..............................................................1 dia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Entrega/Suporte.........................................................1 dia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89" name="Google Shape;189;p21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90" name="Google Shape;190;p2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93" name="Google Shape;193;p21"/>
          <p:cNvSpPr txBox="1"/>
          <p:nvPr>
            <p:ph type="ctrTitle"/>
          </p:nvPr>
        </p:nvSpPr>
        <p:spPr>
          <a:xfrm>
            <a:off x="8450023" y="1828799"/>
            <a:ext cx="3081576" cy="923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pt-BR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OBRIGADO</a:t>
            </a:r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8296274" y="3505095"/>
            <a:ext cx="3235325" cy="26290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72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DSLCONNECT@HOTMAIL.COM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br>
              <a:rPr lang="pt-BR">
                <a:solidFill>
                  <a:schemeClr val="lt2"/>
                </a:solidFill>
              </a:rPr>
            </a:br>
            <a:r>
              <a:rPr lang="pt-BR">
                <a:solidFill>
                  <a:schemeClr val="lt2"/>
                </a:solidFill>
              </a:rPr>
              <a:t>(21) 971969669</a:t>
            </a:r>
            <a:endParaRPr/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pt-BR">
                <a:solidFill>
                  <a:schemeClr val="lt2"/>
                </a:solidFill>
              </a:rPr>
              <a:t>LUCAS AVELINO DO C. SANTOS</a:t>
            </a:r>
            <a:endParaRPr/>
          </a:p>
        </p:txBody>
      </p:sp>
      <p:pic>
        <p:nvPicPr>
          <p:cNvPr descr="Números Digitais" id="195" name="Google Shape;195;p21"/>
          <p:cNvPicPr preferRelativeResize="0"/>
          <p:nvPr/>
        </p:nvPicPr>
        <p:blipFill rotWithShape="1">
          <a:blip r:embed="rId4">
            <a:alphaModFix/>
          </a:blip>
          <a:srcRect b="1" l="2189" r="9642" t="0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541289" y="1681584"/>
            <a:ext cx="7452360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INVESTIR EM CONOSCO,  GERA  ALTO DESEMPENHO, MELHORES RENDIMENTOS E AUMENTO DE LUCROS.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highlight>
                <a:srgbClr val="0000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 TRAZENDO TAMBÉM QUALIDADE NA DE VIDA PARA OS FUNCIONÁRIOS.</a:t>
            </a:r>
            <a:br>
              <a:rPr lang="pt-B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0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